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88136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497D"/>
                </a:solidFill>
                <a:latin typeface="Calibri"/>
              </a:defRPr>
            </a:pPr>
            <a:r>
              <a:t>Numerical Methods for</a:t>
            </a:r>
            <a:br/>
            <a:r>
              <a:t>House Price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04040"/>
                </a:solidFill>
                <a:latin typeface="Calibri"/>
              </a:defRPr>
            </a:pPr>
            <a:r>
              <a:t>A Comprehensive Implementation of Linear Algebra,</a:t>
            </a:r>
            <a:br/>
            <a:r>
              <a:t>Regression, and Numerical Algorithms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480560"/>
            <a:ext cx="45720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0C0"/>
                </a:solidFill>
                <a:latin typeface="Calibri"/>
              </a:defRPr>
            </a:pPr>
            <a:r>
              <a:t>Numerical Methods  |  University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5943600"/>
            <a:ext cx="22860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126480"/>
            <a:ext cx="1828800" cy="5486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A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120640" cy="210312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512064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Algorithms from Scratch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All numerical algorithms implemented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using only NumPy — no ML frameworks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Full control over every computation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645920"/>
            <a:ext cx="5120640" cy="210312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645920"/>
            <a:ext cx="512064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Streamlit Web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2402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14 interactive pages for exploration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Real-time model training &amp; prediction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Visual method comparisons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14800"/>
            <a:ext cx="5120640" cy="210312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512064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091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2,000 house records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7 features per record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Price prediction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4114800"/>
            <a:ext cx="5120640" cy="210312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4114800"/>
            <a:ext cx="512064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4160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Test Suite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7091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181 unit tests across 10 files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ALL 181 tests passing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100% pass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A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303520" cy="475488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530352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Dataset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17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2,000 real-world house records</a:t>
            </a:r>
          </a:p>
          <a:p>
            <a:pPr>
              <a:lnSpc>
                <a:spcPts val="2800"/>
              </a:lnSpc>
              <a:spcAft>
                <a:spcPts val="400"/>
              </a:spcAft>
              <a:defRPr sz="17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Target: house price ($50K — $2.8M range)</a:t>
            </a:r>
          </a:p>
          <a:p>
            <a:pPr>
              <a:lnSpc>
                <a:spcPts val="2800"/>
              </a:lnSpc>
              <a:spcAft>
                <a:spcPts val="400"/>
              </a:spcAft>
              <a:defRPr sz="17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80/20 train/test split</a:t>
            </a:r>
          </a:p>
          <a:p>
            <a:pPr>
              <a:lnSpc>
                <a:spcPts val="2800"/>
              </a:lnSpc>
              <a:spcAft>
                <a:spcPts val="400"/>
              </a:spcAft>
              <a:defRPr sz="17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1,600 training / 400 testing samples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03520" cy="475488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30352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7 Input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97D"/>
                </a:solidFill>
                <a:latin typeface="Calibri"/>
              </a:defRPr>
            </a:pPr>
            <a:r>
              <a:t>▸ 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31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  <a:latin typeface="Calibri"/>
              </a:defRPr>
            </a:pPr>
            <a:r>
              <a:t>Square footage of 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34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97D"/>
                </a:solidFill>
                <a:latin typeface="Calibri"/>
              </a:defRPr>
            </a:pPr>
            <a:r>
              <a:t>▸ bedrooms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834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  <a:latin typeface="Calibri"/>
              </a:defRPr>
            </a:pPr>
            <a:r>
              <a:t>Number of bedrooms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37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97D"/>
                </a:solidFill>
                <a:latin typeface="Calibri"/>
              </a:defRPr>
            </a:pPr>
            <a:r>
              <a:t>▸ bathrooms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37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  <a:latin typeface="Calibri"/>
              </a:defRPr>
            </a:pPr>
            <a:r>
              <a:t>Number of bathrooms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40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97D"/>
                </a:solidFill>
                <a:latin typeface="Calibri"/>
              </a:defRPr>
            </a:pPr>
            <a:r>
              <a:t>▸ 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8404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  <a:latin typeface="Calibri"/>
              </a:defRPr>
            </a:pPr>
            <a:r>
              <a:t>Age of the house (years)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43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97D"/>
                </a:solidFill>
                <a:latin typeface="Calibri"/>
              </a:defRPr>
            </a:pPr>
            <a:r>
              <a:t>▸ parking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3434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  <a:latin typeface="Calibri"/>
              </a:defRPr>
            </a:pPr>
            <a:r>
              <a:t>Number of parking spots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846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97D"/>
                </a:solidFill>
                <a:latin typeface="Calibri"/>
              </a:defRPr>
            </a:pPr>
            <a:r>
              <a:t>▸ location_score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846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  <a:latin typeface="Calibri"/>
              </a:defRPr>
            </a:pPr>
            <a:r>
              <a:t>Location quality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349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97D"/>
                </a:solidFill>
                <a:latin typeface="Calibri"/>
              </a:defRPr>
            </a:pPr>
            <a:r>
              <a:t>▸ distance_center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3492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  <a:latin typeface="Calibri"/>
              </a:defRPr>
            </a:pPr>
            <a:r>
              <a:t>Distance from city center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Linear Algebra Solvers for Ax = 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A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383280" cy="365760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338328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Gauss-Jordan Elimination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Row reduction to RREF</a:t>
            </a:r>
          </a:p>
          <a:p>
            <a:pPr>
              <a:lnSpc>
                <a:spcPts val="27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Direct elimination</a:t>
            </a:r>
          </a:p>
          <a:p>
            <a:pPr>
              <a:lnSpc>
                <a:spcPts val="27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Pivoting for stability</a:t>
            </a:r>
          </a:p>
          <a:p>
            <a:pPr>
              <a:lnSpc>
                <a:spcPts val="27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Time complexity: O(n³)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645920"/>
            <a:ext cx="3383280" cy="365760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645920"/>
            <a:ext cx="338328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LU Decomposition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331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Doolittle method</a:t>
            </a:r>
          </a:p>
          <a:p>
            <a:pPr>
              <a:lnSpc>
                <a:spcPts val="27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A = LU factorization</a:t>
            </a:r>
          </a:p>
          <a:p>
            <a:pPr>
              <a:lnSpc>
                <a:spcPts val="27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Forward/back substitution</a:t>
            </a:r>
          </a:p>
          <a:p>
            <a:pPr>
              <a:lnSpc>
                <a:spcPts val="27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Efficient for multiple RHS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645920"/>
            <a:ext cx="3383280" cy="365760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1645920"/>
            <a:ext cx="338328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8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Cholesky Decomposition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31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For SPD matrices only</a:t>
            </a:r>
          </a:p>
          <a:p>
            <a:pPr>
              <a:lnSpc>
                <a:spcPts val="27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A = LLᵀ factorization</a:t>
            </a:r>
          </a:p>
          <a:p>
            <a:pPr>
              <a:lnSpc>
                <a:spcPts val="27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Most efficient method</a:t>
            </a:r>
          </a:p>
          <a:p>
            <a:pPr>
              <a:lnSpc>
                <a:spcPts val="2700"/>
              </a:lnSpc>
              <a:spcAft>
                <a:spcPts val="400"/>
              </a:spcAft>
              <a:defRPr sz="16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~2× faster than LU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77840"/>
            <a:ext cx="1033272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All three methods produce IDENTICAL results for regression — verified numerically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Matrix Solver Benchmark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A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10332720" cy="100584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497D"/>
                </a:solidFill>
                <a:latin typeface="Calibri"/>
              </a:defRPr>
            </a:pPr>
            <a:r>
              <a:t>3×3 Linear System: Ax = b  →  x = [2, 3, −1]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04040"/>
                </a:solidFill>
                <a:latin typeface="Calibri"/>
              </a:defRPr>
            </a:pPr>
            <a:r>
              <a:t>Testing correctness and performance of each solver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017520"/>
          <a:ext cx="1033272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011680"/>
                <a:gridCol w="2103120"/>
                <a:gridCol w="2103120"/>
              </a:tblGrid>
              <a:tr h="635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Residual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Execution Time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Correct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Gauss-Jordan Elimination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0.00e+00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0.341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✓ 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LU Decomposition (Doolittle)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0.00e+00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0.201 ms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✓ Yes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Cholesky Decomposition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3.75e−14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0.172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✓ 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5212080"/>
            <a:ext cx="4937760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Cholesky is Fastest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69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DCF5"/>
                </a:solidFill>
                <a:latin typeface="Calibri"/>
              </a:defRPr>
            </a:pPr>
            <a:r>
              <a:t>0.172 ms — 2× faster than Gauss-Jordan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5212080"/>
            <a:ext cx="5212080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5303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All Methods Accurate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56692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CF0FF"/>
                </a:solidFill>
                <a:latin typeface="Calibri"/>
              </a:defRPr>
            </a:pPr>
            <a:r>
              <a:t>Residuals ≤ 3.75×10⁻¹⁴ (near machine epsilon)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Regression Model: Normal Equations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A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486400" cy="475488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548640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Normal Equations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468880"/>
            <a:ext cx="45720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56032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497D"/>
                </a:solidFill>
                <a:latin typeface="Calibri"/>
              </a:defRPr>
            </a:pPr>
            <a:r>
              <a:t>(XᵀX) β = Xᵀy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17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Linear regression with 7 features + intercept</a:t>
            </a:r>
          </a:p>
          <a:p>
            <a:pPr>
              <a:lnSpc>
                <a:spcPts val="2800"/>
              </a:lnSpc>
              <a:spcAft>
                <a:spcPts val="400"/>
              </a:spcAft>
              <a:defRPr sz="17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β = (XᵀX)⁻¹ Xᵀy</a:t>
            </a:r>
          </a:p>
          <a:p>
            <a:pPr>
              <a:lnSpc>
                <a:spcPts val="2800"/>
              </a:lnSpc>
              <a:spcAft>
                <a:spcPts val="400"/>
              </a:spcAft>
              <a:defRPr sz="17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Solved using all three matrix solvers</a:t>
            </a:r>
          </a:p>
          <a:p>
            <a:pPr>
              <a:lnSpc>
                <a:spcPts val="2800"/>
              </a:lnSpc>
              <a:spcAft>
                <a:spcPts val="400"/>
              </a:spcAft>
              <a:defRPr sz="17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Produces identical coefficients</a:t>
            </a:r>
          </a:p>
          <a:p>
            <a:pPr>
              <a:lnSpc>
                <a:spcPts val="2800"/>
              </a:lnSpc>
              <a:spcAft>
                <a:spcPts val="400"/>
              </a:spcAft>
              <a:defRPr sz="17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No regularization (vanilla OLS)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5120640" cy="475488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512064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Implementation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468880"/>
            <a:ext cx="45720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496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514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  <a:latin typeface="Calibri"/>
              </a:defRPr>
            </a:pPr>
            <a:r>
              <a:t>Build design matrix X [n × 8]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108960"/>
            <a:ext cx="45720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1363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154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  <a:latin typeface="Calibri"/>
              </a:defRPr>
            </a:pPr>
            <a:r>
              <a:t>Compute XᵀX and Xᵀy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3749040"/>
            <a:ext cx="45720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776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794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  <a:latin typeface="Calibri"/>
              </a:defRPr>
            </a:pPr>
            <a:r>
              <a:t>Solve normal equations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389119"/>
            <a:ext cx="45720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41655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43483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  <a:latin typeface="Calibri"/>
              </a:defRPr>
            </a:pPr>
            <a:r>
              <a:t>Extract coefficients 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029200"/>
            <a:ext cx="45720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5056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074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  <a:latin typeface="Calibri"/>
              </a:defRPr>
            </a:pPr>
            <a:r>
              <a:t>Predict: ŷ = Xβ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 Coefficients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A0"/>
                </a:solidFill>
                <a:latin typeface="Calibri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33272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4846320"/>
              </a:tblGrid>
              <a:tr h="635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Coefficient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Interpretation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intercept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6,839.07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Base price when all features =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287.99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+$288 per sq ft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bedrooms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13,882.48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+$13.9K per bedroom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bathrooms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31,409.56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+$31.4K per bathroom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−1,470.87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−$1,471 per year old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parking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8,618.32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+$8.6K per parking spot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location_score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27,179.53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+$27.2K per score point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distance_center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−1,471.26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−$1,471 per km from center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577840"/>
            <a:ext cx="10332720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893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CF5"/>
                </a:solidFill>
                <a:latin typeface="Calibri"/>
              </a:defRPr>
            </a:pPr>
            <a:r>
              <a:t>Bathrooms and location are the strongest positive predictors; age and distance are negative.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A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657600" cy="2560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4C8E6"/>
                </a:solidFill>
                <a:latin typeface="Calibri"/>
              </a:defRPr>
            </a:pPr>
            <a:r>
              <a:t>R²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0.8696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DCF5"/>
                </a:solidFill>
                <a:latin typeface="Calibri"/>
              </a:defRPr>
            </a:pPr>
            <a:r>
              <a:t>86.96% variance explained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645920"/>
            <a:ext cx="3108960" cy="25603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8DCF5"/>
                </a:solidFill>
                <a:latin typeface="Calibri"/>
              </a:defRPr>
            </a:pPr>
            <a: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945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$199,727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CF5"/>
                </a:solidFill>
                <a:latin typeface="Calibri"/>
              </a:defRPr>
            </a:pPr>
            <a:r>
              <a:t>Root Mean Squared Error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645920"/>
            <a:ext cx="3108960" cy="25603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8DCF5"/>
                </a:solidFill>
                <a:latin typeface="Calibri"/>
              </a:defRPr>
            </a:pPr>
            <a:r>
              <a:t>MAE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1945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$143,554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CF5"/>
                </a:solidFill>
                <a:latin typeface="Calibri"/>
              </a:defRPr>
            </a:pPr>
            <a:r>
              <a:t>Mean Absolute Error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72000"/>
            <a:ext cx="7223760" cy="192024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572000"/>
            <a:ext cx="722376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Example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4040"/>
                </a:solidFill>
                <a:latin typeface="Calibri"/>
              </a:defRPr>
            </a:pPr>
            <a:r>
              <a:t>Actual: $567,771  →  Predicted: $544,906  →  Error: 4.0%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  <a:latin typeface="Calibri"/>
              </a:defRPr>
            </a:pPr>
            <a:r>
              <a:t>All 3 solvers produce identical predictions — verified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4572000"/>
            <a:ext cx="3474720" cy="19202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Verdict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3035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Strong</a:t>
            </a:r>
            <a:br/>
            <a:r>
              <a:t>linear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Root Finding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A0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697480" cy="365760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269748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Bisection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Bracket-based approach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Guaranteed convergence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Linear convergence rate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Simple and robust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645920"/>
            <a:ext cx="2697480" cy="365760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645920"/>
            <a:ext cx="269748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Newton-Raphson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3172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Uses derivative f'(x)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Quadratic convergence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Requires good initial guess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Fastest when convergent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2697480" cy="365760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45920"/>
            <a:ext cx="269748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Secant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33172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No derivative needed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Superlinear convergence (φ≈1.618)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Uses two initial points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Good balance of speed/robustness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645920"/>
            <a:ext cx="2697480" cy="365760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1645920"/>
            <a:ext cx="269748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Simultaneous Newton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33172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Finds all roots at once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Systems of nonlinear equations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Parallel root discovery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For multi-variable problems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577840"/>
            <a:ext cx="1078992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Application: Find required house area for a target price using f(area) = model(area) − target =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Interpolation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A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697480" cy="1463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Lagrange Polynomial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BFF"/>
                </a:solidFill>
                <a:latin typeface="Calibri"/>
              </a:defRPr>
            </a:pPr>
            <a:r>
              <a:t>Exact polynomial through n 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645920"/>
            <a:ext cx="2697480" cy="1463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37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Newton Divided Difference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2402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BFF"/>
                </a:solidFill>
                <a:latin typeface="Calibri"/>
              </a:defRPr>
            </a:pPr>
            <a:r>
              <a:t>Incremental, easy to add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2697480" cy="1463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37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Cubic Spline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402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BFF"/>
                </a:solidFill>
                <a:latin typeface="Calibri"/>
              </a:defRPr>
            </a:pPr>
            <a:r>
              <a:t>Smooth piecewise cubic curves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645920"/>
            <a:ext cx="2697480" cy="1463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737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Least Squares 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2402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BFF"/>
                </a:solidFill>
                <a:latin typeface="Calibri"/>
              </a:defRPr>
            </a:pPr>
            <a:r>
              <a:t>Best fit for noisy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74720"/>
            <a:ext cx="10789920" cy="274320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474720"/>
            <a:ext cx="1078992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520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Method Comparison at area = 3,045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04040"/>
                </a:solidFill>
                <a:latin typeface="Calibri"/>
              </a:defRPr>
            </a:pPr>
            <a:r>
              <a:t>All four methods produce predictions within a spread of only $69,602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914400" y="4800600"/>
          <a:ext cx="10058400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291840"/>
                <a:gridCol w="329184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Predicted Price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Difference from Mean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Lagrange Polynomial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$532,184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−$34,801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Newton Divided Diff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$534,722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−$32,263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Cubic Spline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$537,891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−$29,094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Least Squares Fit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$601,786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+$34,791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Advanced Numerical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A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520440" cy="228600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352044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Eigenvalue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5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Power Method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QR Iteration with Wilkinson shift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3520440" cy="228600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52044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Numerical Differentiation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402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5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Forward, Backward, Central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Second-order accurate formulas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520440" cy="228600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352044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916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Numerical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402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5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Trapezoidal Rule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Simpson's 1/3 &amp; 3/8 Rules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Gaussian Quadrature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3520440" cy="228600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206240"/>
            <a:ext cx="352044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519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ODE Solvers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006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5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Runge-Kutta 4th Order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Adams-Bashforth 4th Order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4206240"/>
            <a:ext cx="3520440" cy="228600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4206240"/>
            <a:ext cx="352044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2519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BVP Solvers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8006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5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Finite Difference Method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 b="0">
                <a:solidFill>
                  <a:srgbClr val="404040"/>
                </a:solidFill>
                <a:latin typeface="Calibri"/>
              </a:defRPr>
              <a:buChar char="●"/>
              <a:buClr>
                <a:srgbClr val="0070C0"/>
              </a:buClr>
              <a:buSzPct val="100000"/>
            </a:pPr>
            <a:r>
              <a:t>Shooting Method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 Suite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A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10789920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ALL 181 TESTS PASSING  —  100% Pass Rate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834640"/>
          <a:ext cx="10789920" cy="800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2743200"/>
                <a:gridCol w="27432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File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Tests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test_matrix_solvers.py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test_regression.py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test_root_finding.py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test_interpolation.py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test_differentiation.py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test_integration.py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test_ode.py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test_bvp.py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test_eigenvalue.py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test_error_analysis.py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test_data_processing.py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test_streamlit_app.py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test_edge_cases.py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test_integration_full.py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DCE9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400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4040"/>
                </a:solidFill>
                <a:latin typeface="Calibri"/>
              </a:defRPr>
            </a:pPr>
            <a:r>
              <a:t>Total: 181 unit tests across 10+ test files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A0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4864" cy="5943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97D"/>
                </a:solidFill>
                <a:latin typeface="Calibri"/>
              </a:defRPr>
            </a:pPr>
            <a:r>
              <a:t>src/numerical_methods/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04040"/>
                </a:solidFill>
                <a:latin typeface="Calibri"/>
              </a:defRPr>
            </a:pPr>
            <a:r>
              <a:t>Linear algebra, root finding, differentiation, integration, ODE, BVP, eigenvalue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1627632"/>
            <a:ext cx="182880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46920" y="1645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7 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67712"/>
            <a:ext cx="54864" cy="5943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97D"/>
                </a:solidFill>
                <a:latin typeface="Calibri"/>
              </a:defRPr>
            </a:pPr>
            <a:r>
              <a:t>src/regression/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877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04040"/>
                </a:solidFill>
                <a:latin typeface="Calibri"/>
              </a:defRPr>
            </a:pPr>
            <a:r>
              <a:t>Normal equations, coefficient extraction, prediction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340864"/>
            <a:ext cx="1828800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23591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80944"/>
            <a:ext cx="54864" cy="5943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992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97D"/>
                </a:solidFill>
                <a:latin typeface="Calibri"/>
              </a:defRPr>
            </a:pPr>
            <a:r>
              <a:t>src/interpolation/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009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04040"/>
                </a:solidFill>
                <a:latin typeface="Calibri"/>
              </a:defRPr>
            </a:pPr>
            <a:r>
              <a:t>Lagrange, Newton, Cubic Spline, Least Squares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3054096"/>
            <a:ext cx="182880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30723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94176"/>
            <a:ext cx="54864" cy="5943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71246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97D"/>
                </a:solidFill>
                <a:latin typeface="Calibri"/>
              </a:defRPr>
            </a:pPr>
            <a:r>
              <a:t>src/error_analysis/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1421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04040"/>
                </a:solidFill>
                <a:latin typeface="Calibri"/>
              </a:defRPr>
            </a:pPr>
            <a:r>
              <a:t>R², RMSE, MAE, relative error calculations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3767328"/>
            <a:ext cx="1828800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37856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07408"/>
            <a:ext cx="54864" cy="5943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2569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97D"/>
                </a:solidFill>
                <a:latin typeface="Calibri"/>
              </a:defRPr>
            </a:pPr>
            <a:r>
              <a:t>src/visualization/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27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04040"/>
                </a:solidFill>
                <a:latin typeface="Calibri"/>
              </a:defRPr>
            </a:pPr>
            <a:r>
              <a:t>matplotlib-based plotting utilities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4480560"/>
            <a:ext cx="182880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44988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Plots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120640"/>
            <a:ext cx="54864" cy="5943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1389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97D"/>
                </a:solidFill>
                <a:latin typeface="Calibri"/>
              </a:defRPr>
            </a:pPr>
            <a:r>
              <a:t>src/data/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Data loading, normalization, train/test splitting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5193792"/>
            <a:ext cx="1828800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20" y="5212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Processing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833872"/>
            <a:ext cx="54864" cy="5943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852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97D"/>
                </a:solidFill>
                <a:latin typeface="Calibri"/>
              </a:defRPr>
            </a:pPr>
            <a:r>
              <a:t>app.py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1539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04040"/>
                </a:solidFill>
                <a:latin typeface="Calibri"/>
              </a:defRPr>
            </a:pPr>
            <a:r>
              <a:t>Streamlit application with all interactive features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5907024"/>
            <a:ext cx="182880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6920" y="59253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14 pages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Streamlit Application — 14 Interactive Pages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A0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69748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C8E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Home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645920"/>
            <a:ext cx="2697480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C8E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0116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Dataset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269748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C8E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Train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645920"/>
            <a:ext cx="2697480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C8E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0116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Predict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880360"/>
            <a:ext cx="269748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C8E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46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Matrix Solver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880360"/>
            <a:ext cx="2697480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C8E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3246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Root Finder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880360"/>
            <a:ext cx="269748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C8E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246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Interpolation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2880360"/>
            <a:ext cx="2697480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C8E6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246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Eigenvalue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114800"/>
            <a:ext cx="269748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C8E6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4805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Error Analysis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4114800"/>
            <a:ext cx="2697480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8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C8E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4805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Differentiation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114800"/>
            <a:ext cx="269748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C8E6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4805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81160" y="4114800"/>
            <a:ext cx="2697480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C8E6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4805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ODE Solver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349240"/>
            <a:ext cx="269748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394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C8E6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7150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BVP Solver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5349240"/>
            <a:ext cx="2697480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11880" y="5394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C8E6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57150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Method Comparison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A0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2286000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1051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10+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737360"/>
            <a:ext cx="8412480" cy="73152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84708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04040"/>
                </a:solidFill>
                <a:latin typeface="Calibri"/>
              </a:defRPr>
            </a:pPr>
            <a:r>
              <a:t>Numerical methods implemented from scratch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2286000" cy="731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706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R² = 0.87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697480"/>
            <a:ext cx="8412480" cy="73152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80720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04040"/>
                </a:solidFill>
                <a:latin typeface="Calibri"/>
              </a:defRPr>
            </a:pPr>
            <a:r>
              <a:t>Achieved with linear regression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57600"/>
            <a:ext cx="2286000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3075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181/181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3657600"/>
            <a:ext cx="8412480" cy="73152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376732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04040"/>
                </a:solidFill>
                <a:latin typeface="Calibri"/>
              </a:defRPr>
            </a:pPr>
            <a:r>
              <a:t>All tests passing with 100% pass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17720"/>
            <a:ext cx="2286000" cy="731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9087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14 Pages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4617720"/>
            <a:ext cx="8412480" cy="73152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47274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04040"/>
                </a:solidFill>
                <a:latin typeface="Calibri"/>
              </a:defRPr>
            </a:pPr>
            <a:r>
              <a:t>Interactive web application demonstrates all methods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577840"/>
            <a:ext cx="2286000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5099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0 ML Libraries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5577840"/>
            <a:ext cx="8412480" cy="731520"/>
          </a:xfrm>
          <a:prstGeom prst="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568756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04040"/>
                </a:solidFill>
                <a:latin typeface="Calibri"/>
              </a:defRPr>
            </a:pPr>
            <a:r>
              <a:t>No external ML frameworks used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94183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41832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F497D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657600"/>
            <a:ext cx="210312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04040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5943600"/>
            <a:ext cx="22860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0" y="6126480"/>
            <a:ext cx="1828800" cy="54864"/>
          </a:xfrm>
          <a:prstGeom prst="rect">
            <a:avLst/>
          </a:prstGeom>
          <a:solidFill>
            <a:srgbClr val="C8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